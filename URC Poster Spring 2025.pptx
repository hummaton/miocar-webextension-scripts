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6858000" cy="9144000"/>
  <p:embeddedFontLst>
    <p:embeddedFont>
      <p:font typeface="Proxima Nova" panose="02000506030000020004" pitchFamily="2" charset="0"/>
      <p:regular r:id="rId5"/>
      <p:bold r:id="rId6"/>
      <p:italic r:id="rId7"/>
      <p:boldItalic r:id="rId8"/>
    </p:embeddedFont>
    <p:embeddedFont>
      <p:font typeface="Proxima Nova Rg" panose="02000506030000020004" pitchFamily="2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228954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2457907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3686861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4915814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6144768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7373722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8602675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9831629" algn="l" defTabSz="2457907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6A179C-35A5-4C49-299E-B196E0FC05F8}" name="Harjot Gill" initials="HG" userId="S::Harjot.Gill@smud.org::66cca4f2-a480-44aa-945f-7aefcf57c3b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86259" autoAdjust="0"/>
  </p:normalViewPr>
  <p:slideViewPr>
    <p:cSldViewPr>
      <p:cViewPr varScale="1">
        <p:scale>
          <a:sx n="22" d="100"/>
          <a:sy n="22" d="100"/>
        </p:scale>
        <p:origin x="1928" y="3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0" d="100"/>
        <a:sy n="1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% Time Spent on Backend App with Manual Processes </a:t>
            </a:r>
          </a:p>
        </c:rich>
      </c:tx>
      <c:layout>
        <c:manualLayout>
          <c:xMode val="edge"/>
          <c:yMode val="edge"/>
          <c:x val="0.15842857662025112"/>
          <c:y val="1.65926028437952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302402926108891"/>
          <c:y val="8.3687174788675767E-2"/>
          <c:w val="0.54218632498075292"/>
          <c:h val="0.7133224494259533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 Spent on Backend App with Manual Processes 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0-A846-AAA6-9268F70E202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130-A846-AAA6-9268F70E202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0-A846-AAA6-9268F70E202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130-A846-AAA6-9268F70E2025}"/>
              </c:ext>
            </c:extLst>
          </c:dPt>
          <c:dLbls>
            <c:dLbl>
              <c:idx val="0"/>
              <c:layout>
                <c:manualLayout>
                  <c:x val="-0.18743186652450541"/>
                  <c:y val="3.779856243551215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30-A846-AAA6-9268F70E2025}"/>
                </c:ext>
              </c:extLst>
            </c:dLbl>
            <c:dLbl>
              <c:idx val="1"/>
              <c:layout>
                <c:manualLayout>
                  <c:x val="8.0407996046288455E-2"/>
                  <c:y val="-0.1949574813706236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130-A846-AAA6-9268F70E2025}"/>
                </c:ext>
              </c:extLst>
            </c:dLbl>
            <c:dLbl>
              <c:idx val="2"/>
              <c:layout>
                <c:manualLayout>
                  <c:x val="0.14216463047066036"/>
                  <c:y val="-2.376893582082337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30-A846-AAA6-9268F70E2025}"/>
                </c:ext>
              </c:extLst>
            </c:dLbl>
            <c:dLbl>
              <c:idx val="3"/>
              <c:layout>
                <c:manualLayout>
                  <c:x val="0.12816534593520326"/>
                  <c:y val="0.12799628083261719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130-A846-AAA6-9268F70E202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Manual Booking Data Entry</c:v>
                </c:pt>
                <c:pt idx="1">
                  <c:v>MVR Check Form </c:v>
                </c:pt>
                <c:pt idx="2">
                  <c:v>Member Status Maintenance</c:v>
                </c:pt>
                <c:pt idx="3">
                  <c:v>Vehicle Service Bookings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22.45</c:v>
                </c:pt>
                <c:pt idx="1">
                  <c:v>13.23</c:v>
                </c:pt>
                <c:pt idx="2">
                  <c:v>8.4</c:v>
                </c:pt>
                <c:pt idx="3">
                  <c:v>10.67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30-A846-AAA6-9268F70E202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2.7311268348934919E-2"/>
          <c:y val="0.81020106788380464"/>
          <c:w val="0.93176958198373838"/>
          <c:h val="0.1387315171797956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4E36AD-DE00-F33B-FA87-A497DAFE1D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18A98-9E09-17B8-7FC5-EBFF1FF77B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51129E-CF38-47D4-84BA-3EA8D2C6D764}" type="datetimeFigureOut">
              <a:rPr lang="en-US" smtClean="0"/>
              <a:t>4/26/25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6AE8D-F090-947C-FD07-3A2F864705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02707-3696-2CAC-980C-652D29D757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1E3DEC-22B5-446C-B821-BCC694EF2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3796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0E29-97AC-4D35-BE83-3D95D978A6C2}" type="datetimeFigureOut">
              <a:rPr lang="en-US" smtClean="0"/>
              <a:t>4/26/25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BB0BC-FFB4-464B-8769-5856084018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787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1pPr>
    <a:lvl2pPr marL="1228954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2pPr>
    <a:lvl3pPr marL="2457907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3pPr>
    <a:lvl4pPr marL="3686861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4pPr>
    <a:lvl5pPr marL="4915814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5pPr>
    <a:lvl6pPr marL="6144768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6pPr>
    <a:lvl7pPr marL="7373722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7pPr>
    <a:lvl8pPr marL="8602675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8pPr>
    <a:lvl9pPr marL="9831629" algn="l" defTabSz="2457907" rtl="0" eaLnBrk="1" latinLnBrk="0" hangingPunct="1">
      <a:defRPr sz="32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BB0BC-FFB4-464B-8769-5856084018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64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20340328"/>
            <a:ext cx="5120640" cy="11684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8448050"/>
            <a:ext cx="19842480" cy="21422358"/>
          </a:xfrm>
        </p:spPr>
        <p:txBody>
          <a:bodyPr/>
          <a:lstStyle>
            <a:lvl1pPr>
              <a:defRPr sz="6720"/>
            </a:lvl1pPr>
            <a:lvl2pPr>
              <a:defRPr sz="5760"/>
            </a:lvl2pPr>
            <a:lvl3pPr>
              <a:defRPr sz="4800"/>
            </a:lvl3pPr>
            <a:lvl4pPr>
              <a:defRPr sz="4320"/>
            </a:lvl4pPr>
            <a:lvl5pPr>
              <a:defRPr sz="4320"/>
            </a:lvl5pPr>
            <a:lvl6pPr>
              <a:defRPr sz="4320"/>
            </a:lvl6pPr>
            <a:lvl7pPr>
              <a:defRPr sz="4320"/>
            </a:lvl7pPr>
            <a:lvl8pPr>
              <a:defRPr sz="4320"/>
            </a:lvl8pPr>
            <a:lvl9pPr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579840" y="8448050"/>
            <a:ext cx="21305520" cy="21422358"/>
          </a:xfrm>
        </p:spPr>
        <p:txBody>
          <a:bodyPr/>
          <a:lstStyle>
            <a:lvl1pPr>
              <a:defRPr sz="6720"/>
            </a:lvl1pPr>
            <a:lvl2pPr>
              <a:defRPr sz="5760"/>
            </a:lvl2pPr>
            <a:lvl3pPr>
              <a:defRPr sz="4800"/>
            </a:lvl3pPr>
            <a:lvl4pPr>
              <a:defRPr sz="4320"/>
            </a:lvl4pPr>
            <a:lvl5pPr>
              <a:defRPr sz="4320"/>
            </a:lvl5pPr>
            <a:lvl6pPr>
              <a:defRPr sz="4320"/>
            </a:lvl6pPr>
            <a:lvl7pPr>
              <a:defRPr sz="4320"/>
            </a:lvl7pPr>
            <a:lvl8pPr>
              <a:defRPr sz="4320"/>
            </a:lvl8pPr>
            <a:lvl9pPr>
              <a:defRPr sz="4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>
          <p15:clr>
            <a:srgbClr val="FBAE40"/>
          </p15:clr>
        </p15:guide>
        <p15:guide id="2" pos="1382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2A1FC072-B20C-0ECA-2F5B-5C3FEF8CF944}"/>
              </a:ext>
            </a:extLst>
          </p:cNvPr>
          <p:cNvGrpSpPr/>
          <p:nvPr userDrawn="1"/>
        </p:nvGrpSpPr>
        <p:grpSpPr>
          <a:xfrm>
            <a:off x="2" y="30814234"/>
            <a:ext cx="43891200" cy="2104166"/>
            <a:chOff x="0" y="0"/>
            <a:chExt cx="6309141" cy="81280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0E5015BC-A072-5202-6011-F12329C012EC}"/>
                </a:ext>
              </a:extLst>
            </p:cNvPr>
            <p:cNvSpPr/>
            <p:nvPr/>
          </p:nvSpPr>
          <p:spPr>
            <a:xfrm>
              <a:off x="0" y="0"/>
              <a:ext cx="6309141" cy="812800"/>
            </a:xfrm>
            <a:custGeom>
              <a:avLst/>
              <a:gdLst/>
              <a:ahLst/>
              <a:cxnLst/>
              <a:rect l="l" t="t" r="r" b="b"/>
              <a:pathLst>
                <a:path w="6309141" h="812800">
                  <a:moveTo>
                    <a:pt x="0" y="0"/>
                  </a:moveTo>
                  <a:lnTo>
                    <a:pt x="6309141" y="0"/>
                  </a:lnTo>
                  <a:lnTo>
                    <a:pt x="630914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F5F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4320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DE537840-2FB9-610F-3D79-3528B8A62DE6}"/>
                </a:ext>
              </a:extLst>
            </p:cNvPr>
            <p:cNvSpPr txBox="1"/>
            <p:nvPr/>
          </p:nvSpPr>
          <p:spPr>
            <a:xfrm>
              <a:off x="0" y="-9525"/>
              <a:ext cx="630914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5760"/>
                </a:lnSpc>
                <a:spcBef>
                  <a:spcPct val="0"/>
                </a:spcBef>
              </a:pPr>
              <a:endParaRPr sz="4320"/>
            </a:p>
          </p:txBody>
        </p:sp>
      </p:grpSp>
      <p:sp>
        <p:nvSpPr>
          <p:cNvPr id="10" name="Freeform 5">
            <a:extLst>
              <a:ext uri="{FF2B5EF4-FFF2-40B4-BE49-F238E27FC236}">
                <a16:creationId xmlns:a16="http://schemas.microsoft.com/office/drawing/2014/main" id="{4B88AB2B-D612-C89F-7944-D9D3A3B2078E}"/>
              </a:ext>
            </a:extLst>
          </p:cNvPr>
          <p:cNvSpPr/>
          <p:nvPr userDrawn="1"/>
        </p:nvSpPr>
        <p:spPr>
          <a:xfrm>
            <a:off x="615386" y="31406715"/>
            <a:ext cx="2353253" cy="942173"/>
          </a:xfrm>
          <a:custGeom>
            <a:avLst/>
            <a:gdLst/>
            <a:ahLst/>
            <a:cxnLst/>
            <a:rect l="l" t="t" r="r" b="b"/>
            <a:pathLst>
              <a:path w="980522" h="294429">
                <a:moveTo>
                  <a:pt x="0" y="0"/>
                </a:moveTo>
                <a:lnTo>
                  <a:pt x="980522" y="0"/>
                </a:lnTo>
                <a:lnTo>
                  <a:pt x="980522" y="294429"/>
                </a:lnTo>
                <a:lnTo>
                  <a:pt x="0" y="2944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432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267200"/>
            <a:ext cx="41879520" cy="365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154" y="9052632"/>
            <a:ext cx="41879520" cy="20330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E997FF-4B91-113A-CBF5-AF2BD8B6EEE3}"/>
              </a:ext>
            </a:extLst>
          </p:cNvPr>
          <p:cNvSpPr txBox="1"/>
          <p:nvPr userDrawn="1"/>
        </p:nvSpPr>
        <p:spPr>
          <a:xfrm>
            <a:off x="41712147" y="31080477"/>
            <a:ext cx="2676454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FA909C9-0199-4DBA-912A-B3C0B49E7B07}" type="slidenum">
              <a:rPr lang="en-US" sz="4320" smtClean="0"/>
              <a:t>‹#›</a:t>
            </a:fld>
            <a:endParaRPr lang="en-US" sz="43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4" r:id="rId3"/>
    <p:sldLayoutId id="2147483655" r:id="rId4"/>
  </p:sldLayoutIdLst>
  <p:hf hdr="0"/>
  <p:txStyles>
    <p:titleStyle>
      <a:lvl1pPr algn="l" defTabSz="2194735" rtl="0" eaLnBrk="1" latinLnBrk="0" hangingPunct="1">
        <a:spcBef>
          <a:spcPct val="0"/>
        </a:spcBef>
        <a:buNone/>
        <a:defRPr sz="10560" b="1" kern="1200">
          <a:solidFill>
            <a:schemeClr val="tx1"/>
          </a:solidFill>
          <a:latin typeface="Proxima Nova Rg" panose="020B0604020202020204" charset="0"/>
          <a:ea typeface="+mj-ea"/>
          <a:cs typeface="+mj-cs"/>
        </a:defRPr>
      </a:lvl1pPr>
    </p:titleStyle>
    <p:bodyStyle>
      <a:lvl1pPr marL="823025" indent="-823025" algn="l" defTabSz="2194735" rtl="0" eaLnBrk="1" latinLnBrk="0" hangingPunct="1">
        <a:spcBef>
          <a:spcPct val="20000"/>
        </a:spcBef>
        <a:buFont typeface="Arial" pitchFamily="34" charset="0"/>
        <a:buChar char="•"/>
        <a:defRPr sz="7680" kern="1200">
          <a:solidFill>
            <a:schemeClr val="tx1"/>
          </a:solidFill>
          <a:latin typeface="Proxima Nova Rg" panose="020B0604020202020204" charset="0"/>
          <a:ea typeface="+mn-ea"/>
          <a:cs typeface="+mn-cs"/>
        </a:defRPr>
      </a:lvl1pPr>
      <a:lvl2pPr marL="1783222" indent="-685855" algn="l" defTabSz="2194735" rtl="0" eaLnBrk="1" latinLnBrk="0" hangingPunct="1">
        <a:spcBef>
          <a:spcPct val="20000"/>
        </a:spcBef>
        <a:buFont typeface="Arial" pitchFamily="34" charset="0"/>
        <a:buChar char="–"/>
        <a:defRPr sz="6720" kern="1200">
          <a:solidFill>
            <a:schemeClr val="tx1"/>
          </a:solidFill>
          <a:latin typeface="Proxima Nova Rg" panose="020B0604020202020204" charset="0"/>
          <a:ea typeface="+mn-ea"/>
          <a:cs typeface="+mn-cs"/>
        </a:defRPr>
      </a:lvl2pPr>
      <a:lvl3pPr marL="2743418" indent="-548683" algn="l" defTabSz="2194735" rtl="0" eaLnBrk="1" latinLnBrk="0" hangingPunct="1">
        <a:spcBef>
          <a:spcPct val="20000"/>
        </a:spcBef>
        <a:buFont typeface="Arial" pitchFamily="34" charset="0"/>
        <a:buChar char="•"/>
        <a:defRPr sz="5760" kern="1200">
          <a:solidFill>
            <a:schemeClr val="tx1"/>
          </a:solidFill>
          <a:latin typeface="Proxima Nova Rg" panose="020B0604020202020204" charset="0"/>
          <a:ea typeface="+mn-ea"/>
          <a:cs typeface="+mn-cs"/>
        </a:defRPr>
      </a:lvl3pPr>
      <a:lvl4pPr marL="3840787" indent="-548683" algn="l" defTabSz="2194735" rtl="0" eaLnBrk="1" latinLnBrk="0" hangingPunct="1">
        <a:spcBef>
          <a:spcPct val="20000"/>
        </a:spcBef>
        <a:buFont typeface="Arial" pitchFamily="34" charset="0"/>
        <a:buChar char="–"/>
        <a:defRPr sz="4800" kern="1200">
          <a:solidFill>
            <a:schemeClr val="tx1"/>
          </a:solidFill>
          <a:latin typeface="Proxima Nova Rg" panose="020B0604020202020204" charset="0"/>
          <a:ea typeface="+mn-ea"/>
          <a:cs typeface="+mn-cs"/>
        </a:defRPr>
      </a:lvl4pPr>
      <a:lvl5pPr marL="4938156" indent="-548683" algn="l" defTabSz="2194735" rtl="0" eaLnBrk="1" latinLnBrk="0" hangingPunct="1">
        <a:spcBef>
          <a:spcPct val="20000"/>
        </a:spcBef>
        <a:buFont typeface="Arial" pitchFamily="34" charset="0"/>
        <a:buChar char="»"/>
        <a:defRPr sz="4800" kern="1200">
          <a:solidFill>
            <a:schemeClr val="tx1"/>
          </a:solidFill>
          <a:latin typeface="Proxima Nova Rg" panose="020B0604020202020204" charset="0"/>
          <a:ea typeface="+mn-ea"/>
          <a:cs typeface="+mn-cs"/>
        </a:defRPr>
      </a:lvl5pPr>
      <a:lvl6pPr marL="6035522" indent="-548683" algn="l" defTabSz="2194735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132891" indent="-548683" algn="l" defTabSz="2194735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230258" indent="-548683" algn="l" defTabSz="2194735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327626" indent="-548683" algn="l" defTabSz="2194735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73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369" algn="l" defTabSz="219473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735" algn="l" defTabSz="219473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2104" algn="l" defTabSz="219473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470" algn="l" defTabSz="219473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839" algn="l" defTabSz="219473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4206" algn="l" defTabSz="219473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1574" algn="l" defTabSz="219473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943" algn="l" defTabSz="2194735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.xml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321A78A-5432-3D7D-461C-C488E0D54183}"/>
              </a:ext>
            </a:extLst>
          </p:cNvPr>
          <p:cNvSpPr/>
          <p:nvPr/>
        </p:nvSpPr>
        <p:spPr>
          <a:xfrm>
            <a:off x="-21336" y="-45178"/>
            <a:ext cx="44196000" cy="419051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b="1" dirty="0">
              <a:solidFill>
                <a:schemeClr val="accent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C68D44-0735-33C2-4DE4-18CA767C29C4}"/>
              </a:ext>
            </a:extLst>
          </p:cNvPr>
          <p:cNvSpPr txBox="1"/>
          <p:nvPr/>
        </p:nvSpPr>
        <p:spPr>
          <a:xfrm>
            <a:off x="2590800" y="76200"/>
            <a:ext cx="37338000" cy="8392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200" b="1" dirty="0">
                <a:solidFill>
                  <a:schemeClr val="accent2"/>
                </a:solidFill>
                <a:latin typeface="+mj-lt"/>
              </a:rPr>
              <a:t>Reducing Operational Costs and Manual Labor in Shared Mobility Platforms</a:t>
            </a:r>
          </a:p>
          <a:p>
            <a:pPr algn="ctr"/>
            <a:r>
              <a:rPr lang="en-US" sz="4800" dirty="0">
                <a:solidFill>
                  <a:schemeClr val="bg2"/>
                </a:solidFill>
                <a:latin typeface="Proxima Nova" panose="02000506030000020004" pitchFamily="2" charset="0"/>
              </a:rPr>
              <a:t>Harjot Gill, Kyle Gabriel Galvez, Kirat Singh, Brayan Torres</a:t>
            </a:r>
          </a:p>
          <a:p>
            <a:pPr algn="ctr"/>
            <a:r>
              <a:rPr lang="en-US" sz="4800" dirty="0">
                <a:solidFill>
                  <a:schemeClr val="bg2"/>
                </a:solidFill>
                <a:latin typeface="Proxima Nova" panose="02000506030000020004" pitchFamily="2" charset="0"/>
              </a:rPr>
              <a:t>University of California, Davis</a:t>
            </a:r>
          </a:p>
          <a:p>
            <a:pPr algn="ctr">
              <a:lnSpc>
                <a:spcPct val="150000"/>
              </a:lnSpc>
            </a:pPr>
            <a:endParaRPr lang="en-US" sz="13800" dirty="0">
              <a:solidFill>
                <a:schemeClr val="bg2"/>
              </a:solidFill>
              <a:latin typeface="Proxima Nova" panose="02000506030000020004" pitchFamily="2" charset="0"/>
            </a:endParaRPr>
          </a:p>
          <a:p>
            <a:r>
              <a:rPr lang="en-US" sz="8000" b="1" dirty="0">
                <a:solidFill>
                  <a:schemeClr val="accent2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7158D5-190C-D7FE-4DBD-5CCBD7FF397E}"/>
              </a:ext>
            </a:extLst>
          </p:cNvPr>
          <p:cNvSpPr/>
          <p:nvPr/>
        </p:nvSpPr>
        <p:spPr>
          <a:xfrm>
            <a:off x="0" y="28041600"/>
            <a:ext cx="43891200" cy="487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1"/>
          <p:cNvSpPr>
            <a:spLocks noChangeAspect="1"/>
          </p:cNvSpPr>
          <p:nvPr/>
        </p:nvSpPr>
        <p:spPr>
          <a:xfrm>
            <a:off x="38100000" y="228600"/>
            <a:ext cx="5193885" cy="1559609"/>
          </a:xfrm>
          <a:custGeom>
            <a:avLst/>
            <a:gdLst/>
            <a:ahLst/>
            <a:cxnLst/>
            <a:rect l="l" t="t" r="r" b="b"/>
            <a:pathLst>
              <a:path w="1694107" h="508703">
                <a:moveTo>
                  <a:pt x="0" y="0"/>
                </a:moveTo>
                <a:lnTo>
                  <a:pt x="1694107" y="0"/>
                </a:lnTo>
                <a:lnTo>
                  <a:pt x="1694107" y="508703"/>
                </a:lnTo>
                <a:lnTo>
                  <a:pt x="0" y="508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effectLst>
            <a:outerShdw blurRad="1270000" dir="1080000" sx="99000" sy="99000" algn="ctr" rotWithShape="0">
              <a:schemeClr val="accent3">
                <a:alpha val="63760"/>
              </a:schemeClr>
            </a:outerShdw>
          </a:effectLst>
        </p:spPr>
        <p:txBody>
          <a:bodyPr/>
          <a:lstStyle/>
          <a:p>
            <a:endParaRPr lang="en-US" sz="11611" dirty="0"/>
          </a:p>
        </p:txBody>
      </p:sp>
      <p:pic>
        <p:nvPicPr>
          <p:cNvPr id="1026" name="Picture 2" descr="AggieMentors :: Center for Spatial Technologies And Remote Sensing">
            <a:extLst>
              <a:ext uri="{FF2B5EF4-FFF2-40B4-BE49-F238E27FC236}">
                <a16:creationId xmlns:a16="http://schemas.microsoft.com/office/drawing/2014/main" id="{76DDD02F-3E35-D99E-E258-56B544EB9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21" y="228600"/>
            <a:ext cx="3408079" cy="3505200"/>
          </a:xfrm>
          <a:prstGeom prst="rect">
            <a:avLst/>
          </a:prstGeom>
          <a:noFill/>
          <a:effectLst>
            <a:outerShdw blurRad="602717" dist="50800" dir="5400000" algn="ctr" rotWithShape="0">
              <a:schemeClr val="bg1">
                <a:alpha val="19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69C4638-5ABC-627D-371B-24E8C84EB53E}"/>
              </a:ext>
            </a:extLst>
          </p:cNvPr>
          <p:cNvSpPr/>
          <p:nvPr/>
        </p:nvSpPr>
        <p:spPr>
          <a:xfrm>
            <a:off x="-161260" y="4114314"/>
            <a:ext cx="44196000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b="1" dirty="0">
              <a:solidFill>
                <a:schemeClr val="accent2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163BFA-DE90-176F-A501-FED1E7F3F657}"/>
              </a:ext>
            </a:extLst>
          </p:cNvPr>
          <p:cNvCxnSpPr>
            <a:cxnSpLocks/>
          </p:cNvCxnSpPr>
          <p:nvPr/>
        </p:nvCxnSpPr>
        <p:spPr>
          <a:xfrm>
            <a:off x="10668000" y="4419114"/>
            <a:ext cx="0" cy="2827654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845E89D-B8A0-D666-96EE-1D5B1467E724}"/>
              </a:ext>
            </a:extLst>
          </p:cNvPr>
          <p:cNvCxnSpPr/>
          <p:nvPr/>
        </p:nvCxnSpPr>
        <p:spPr>
          <a:xfrm>
            <a:off x="28956000" y="4419114"/>
            <a:ext cx="0" cy="28499286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F3DB282-D900-55B2-61EA-7899BC8D7D1A}"/>
              </a:ext>
            </a:extLst>
          </p:cNvPr>
          <p:cNvSpPr txBox="1"/>
          <p:nvPr/>
        </p:nvSpPr>
        <p:spPr>
          <a:xfrm>
            <a:off x="554322" y="5005387"/>
            <a:ext cx="9961271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2"/>
                </a:solidFill>
                <a:latin typeface="+mj-lt"/>
              </a:rPr>
              <a:t>Introduction</a:t>
            </a:r>
            <a:r>
              <a:rPr lang="en-US" sz="6000" b="1" dirty="0">
                <a:solidFill>
                  <a:schemeClr val="accent2"/>
                </a:solidFill>
                <a:latin typeface="+mj-lt"/>
              </a:rPr>
              <a:t> </a:t>
            </a:r>
          </a:p>
          <a:p>
            <a:r>
              <a:rPr lang="en-US" sz="4400" b="1" dirty="0">
                <a:solidFill>
                  <a:schemeClr val="tx2"/>
                </a:solidFill>
                <a:latin typeface="+mj-lt"/>
              </a:rPr>
              <a:t>Research Question: </a:t>
            </a:r>
          </a:p>
          <a:p>
            <a:r>
              <a:rPr lang="en-US" sz="3200" dirty="0">
                <a:solidFill>
                  <a:schemeClr val="accent4"/>
                </a:solidFill>
              </a:rPr>
              <a:t>What technological strategies can nonprofit </a:t>
            </a:r>
            <a:r>
              <a:rPr lang="en-US" sz="3200" dirty="0"/>
              <a:t>organizations adopt to enhance operational effectiveness, and how do these approaches impact overall cost-efficiency? </a:t>
            </a:r>
          </a:p>
          <a:p>
            <a:endParaRPr lang="en-US" sz="3200" dirty="0"/>
          </a:p>
          <a:p>
            <a:r>
              <a:rPr lang="en-US" sz="4400" b="1" dirty="0"/>
              <a:t>Background and Challenges: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Míocar</a:t>
            </a:r>
            <a:r>
              <a:rPr lang="en-US" sz="3200" dirty="0"/>
              <a:t> is a non-profit car-sharing service operating in California’s Central Valley and Bay Area.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</a:t>
            </a:r>
            <a:r>
              <a:rPr lang="en-US" sz="3200" b="1" dirty="0"/>
              <a:t>UCD </a:t>
            </a:r>
            <a:r>
              <a:rPr lang="en-US" sz="3200" b="1" dirty="0" err="1"/>
              <a:t>EcoCar</a:t>
            </a:r>
            <a:r>
              <a:rPr lang="en-US" sz="3200" dirty="0"/>
              <a:t> team aims to streamline operations and cut costs for </a:t>
            </a:r>
            <a:r>
              <a:rPr lang="en-US" sz="3200" dirty="0" err="1"/>
              <a:t>Miocar</a:t>
            </a:r>
            <a:r>
              <a:rPr lang="en-US" sz="3200" dirty="0"/>
              <a:t> by minimizing manual operational tasks.</a:t>
            </a:r>
          </a:p>
        </p:txBody>
      </p:sp>
      <p:pic>
        <p:nvPicPr>
          <p:cNvPr id="41" name="Picture 40" descr="Chart, pie chart&#10;&#10;AI-generated content may be incorrect.">
            <a:extLst>
              <a:ext uri="{FF2B5EF4-FFF2-40B4-BE49-F238E27FC236}">
                <a16:creationId xmlns:a16="http://schemas.microsoft.com/office/drawing/2014/main" id="{66AE4499-F652-9E57-B07C-7DFB7130688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1" t="13342" r="4902" b="15925"/>
          <a:stretch/>
        </p:blipFill>
        <p:spPr>
          <a:xfrm>
            <a:off x="20345410" y="26441400"/>
            <a:ext cx="8400252" cy="6330445"/>
          </a:xfrm>
          <a:prstGeom prst="rect">
            <a:avLst/>
          </a:prstGeom>
        </p:spPr>
      </p:pic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63E45619-C41B-FF02-EB39-C7EB98873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326297"/>
              </p:ext>
            </p:extLst>
          </p:nvPr>
        </p:nvGraphicFramePr>
        <p:xfrm>
          <a:off x="381000" y="24765000"/>
          <a:ext cx="9808143" cy="7412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26185BC6-BD34-0765-E855-8CFC98F54B9A}"/>
              </a:ext>
            </a:extLst>
          </p:cNvPr>
          <p:cNvSpPr txBox="1"/>
          <p:nvPr/>
        </p:nvSpPr>
        <p:spPr>
          <a:xfrm>
            <a:off x="391475" y="19631085"/>
            <a:ext cx="98850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 </a:t>
            </a:r>
            <a:r>
              <a:rPr lang="en-US" sz="3200" b="1" dirty="0"/>
              <a:t>cost model </a:t>
            </a:r>
            <a:r>
              <a:rPr lang="en-US" sz="3200" dirty="0"/>
              <a:t>was developed to determine the time/cost associated with operational tasks and forecast impact of potential fixes.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This model informed our decisions regarding which problems to tackle first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Preliminary results indicate that solutions may </a:t>
            </a:r>
            <a:r>
              <a:rPr lang="en-US" sz="3200" b="1" dirty="0"/>
              <a:t>save </a:t>
            </a:r>
            <a:r>
              <a:rPr lang="en-US" sz="3200" b="1" dirty="0" err="1"/>
              <a:t>Míocar</a:t>
            </a:r>
            <a:r>
              <a:rPr lang="en-US" sz="3200" b="1" dirty="0"/>
              <a:t> up to $1,300 per month </a:t>
            </a:r>
            <a:r>
              <a:rPr lang="en-US" sz="3200" dirty="0"/>
              <a:t>in labor costs.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Developing browser extension-based solutions will yield significant benefits for </a:t>
            </a:r>
            <a:r>
              <a:rPr lang="en-US" sz="3200" dirty="0" err="1"/>
              <a:t>Míocar</a:t>
            </a:r>
            <a:r>
              <a:rPr lang="en-US" sz="3200" dirty="0"/>
              <a:t>.</a:t>
            </a:r>
            <a:endParaRPr lang="en-US" sz="3200" dirty="0">
              <a:solidFill>
                <a:schemeClr val="accent4"/>
              </a:solidFill>
            </a:endParaRPr>
          </a:p>
        </p:txBody>
      </p:sp>
      <p:pic>
        <p:nvPicPr>
          <p:cNvPr id="1034" name="Picture 10" descr="graphic with statistics">
            <a:extLst>
              <a:ext uri="{FF2B5EF4-FFF2-40B4-BE49-F238E27FC236}">
                <a16:creationId xmlns:a16="http://schemas.microsoft.com/office/drawing/2014/main" id="{75DC6074-6B68-2315-C597-87072BB790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7" t="6554" r="5676" b="8906"/>
          <a:stretch/>
        </p:blipFill>
        <p:spPr bwMode="auto">
          <a:xfrm>
            <a:off x="647149" y="12558659"/>
            <a:ext cx="9312742" cy="633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554686A-18A1-EC07-6707-26E646A1C323}"/>
              </a:ext>
            </a:extLst>
          </p:cNvPr>
          <p:cNvSpPr txBox="1"/>
          <p:nvPr/>
        </p:nvSpPr>
        <p:spPr>
          <a:xfrm>
            <a:off x="11125201" y="4876800"/>
            <a:ext cx="17678392" cy="886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2"/>
                </a:solidFill>
                <a:latin typeface="+mj-lt"/>
              </a:rPr>
              <a:t>Methods</a:t>
            </a:r>
            <a:r>
              <a:rPr lang="en-US" sz="6000" b="1" dirty="0">
                <a:solidFill>
                  <a:schemeClr val="accent2"/>
                </a:solidFill>
                <a:latin typeface="+mj-lt"/>
              </a:rPr>
              <a:t> </a:t>
            </a:r>
          </a:p>
          <a:p>
            <a:r>
              <a:rPr lang="en-US" sz="4400" b="1" dirty="0">
                <a:solidFill>
                  <a:schemeClr val="tx2"/>
                </a:solidFill>
                <a:latin typeface="+mj-lt"/>
              </a:rPr>
              <a:t>Framework: </a:t>
            </a:r>
            <a:endParaRPr lang="en-US" sz="3200" b="1" dirty="0">
              <a:solidFill>
                <a:schemeClr val="tx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Tampermonkey</a:t>
            </a:r>
            <a:r>
              <a:rPr lang="en-US" sz="3200" dirty="0"/>
              <a:t> is a browser extension that allows developers run custom scripts using </a:t>
            </a:r>
            <a:r>
              <a:rPr lang="en-US" sz="3200" b="1" dirty="0" err="1"/>
              <a:t>Javascipt</a:t>
            </a:r>
            <a:r>
              <a:rPr lang="en-US" sz="3200" b="1" dirty="0"/>
              <a:t> </a:t>
            </a:r>
            <a:r>
              <a:rPr lang="en-US" sz="3200" dirty="0"/>
              <a:t>on web pages, modifying their default functionality and appearance.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Tampermonkey</a:t>
            </a:r>
            <a:r>
              <a:rPr lang="en-US" sz="3200" b="1" dirty="0"/>
              <a:t> offered a balanced solution</a:t>
            </a:r>
            <a:r>
              <a:rPr lang="en-US" sz="3200" dirty="0"/>
              <a:t>, addressing the pain points without extensive cost and time commitment of with developing a new web application from the ground up.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Github</a:t>
            </a:r>
            <a:r>
              <a:rPr lang="en-US" sz="3200" b="1" dirty="0"/>
              <a:t> </a:t>
            </a:r>
            <a:r>
              <a:rPr lang="en-US" sz="3200" dirty="0"/>
              <a:t>is a platform that helps teams collaborate on code, track changes, manage versions, and work together efficiently. This tool helped the team develop conflict-free in parallel.</a:t>
            </a:r>
          </a:p>
          <a:p>
            <a:r>
              <a:rPr lang="en-US" sz="4400" b="1" dirty="0"/>
              <a:t>Frontend development: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Development began with frontend integration, as our project focused on adding features to an existing website.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We prioritized </a:t>
            </a:r>
            <a:r>
              <a:rPr lang="en-US" sz="3200" b="1" dirty="0"/>
              <a:t>user experience</a:t>
            </a:r>
            <a:r>
              <a:rPr lang="en-US" sz="3200" dirty="0"/>
              <a:t>, ensuring the features were easy to use and seamlessly aligned with the website's existing UI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UI features were created with mock data, allowing for quick feedback. This enabled us to resolve design inconsistencies before tackling backend integration. </a:t>
            </a:r>
            <a:endParaRPr lang="en-US" sz="3200" dirty="0">
              <a:solidFill>
                <a:schemeClr val="accent4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E04E68-8CD2-A62A-5A09-74448B18FDF5}"/>
              </a:ext>
            </a:extLst>
          </p:cNvPr>
          <p:cNvGrpSpPr/>
          <p:nvPr/>
        </p:nvGrpSpPr>
        <p:grpSpPr>
          <a:xfrm>
            <a:off x="19865881" y="19202400"/>
            <a:ext cx="8937719" cy="6781795"/>
            <a:chOff x="22943521" y="18522629"/>
            <a:chExt cx="7698200" cy="5848737"/>
          </a:xfrm>
        </p:grpSpPr>
        <p:pic>
          <p:nvPicPr>
            <p:cNvPr id="51" name="Picture 14" descr="A screenshot of a service&#10;&#10;AI-generated content may be incorrect.">
              <a:extLst>
                <a:ext uri="{FF2B5EF4-FFF2-40B4-BE49-F238E27FC236}">
                  <a16:creationId xmlns:a16="http://schemas.microsoft.com/office/drawing/2014/main" id="{747B241D-8325-2692-02B9-143174FADE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943521" y="18522629"/>
              <a:ext cx="7698200" cy="58487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31722D4-3916-5A72-C8DB-FEE0A3A3D25D}"/>
                </a:ext>
              </a:extLst>
            </p:cNvPr>
            <p:cNvSpPr/>
            <p:nvPr/>
          </p:nvSpPr>
          <p:spPr>
            <a:xfrm>
              <a:off x="28778218" y="18669000"/>
              <a:ext cx="1828800" cy="4572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3345239-015A-E209-D8B2-B2969E6E39FC}"/>
              </a:ext>
            </a:extLst>
          </p:cNvPr>
          <p:cNvSpPr txBox="1"/>
          <p:nvPr/>
        </p:nvSpPr>
        <p:spPr>
          <a:xfrm>
            <a:off x="11125199" y="18897600"/>
            <a:ext cx="8283484" cy="733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2"/>
                </a:solidFill>
                <a:latin typeface="+mj-lt"/>
              </a:rPr>
              <a:t>Backend Development: </a:t>
            </a:r>
            <a:endParaRPr lang="en-US" sz="3200" b="1" dirty="0">
              <a:solidFill>
                <a:schemeClr val="tx2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Network inspection tools were used for finding relevant </a:t>
            </a:r>
            <a:r>
              <a:rPr lang="en-US" sz="3200" b="1" dirty="0"/>
              <a:t>API Request </a:t>
            </a:r>
            <a:r>
              <a:rPr lang="en-US" sz="3200" dirty="0"/>
              <a:t>parameters to replicate/enhance functionality of several processes.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API call response logic was implemented to inform users of server responses and completion of processes when necessary.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Implemented solutions were </a:t>
            </a:r>
            <a:r>
              <a:rPr lang="en-US" sz="3200" b="1" dirty="0"/>
              <a:t>tested</a:t>
            </a:r>
            <a:r>
              <a:rPr lang="en-US" sz="3200" dirty="0"/>
              <a:t> to ensure key functions performed as intended.</a:t>
            </a:r>
            <a:endParaRPr lang="en-US" sz="105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Documentation</a:t>
            </a:r>
            <a:r>
              <a:rPr lang="en-US" sz="3200" dirty="0"/>
              <a:t> was finalized and solutions were sent to </a:t>
            </a:r>
            <a:r>
              <a:rPr lang="en-US" sz="3200" dirty="0" err="1"/>
              <a:t>Míocar</a:t>
            </a:r>
            <a:r>
              <a:rPr lang="en-US" sz="3200" dirty="0"/>
              <a:t> staff for further testing in real world usage.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209827-59BC-8C56-838F-C2D77FD40579}"/>
              </a:ext>
            </a:extLst>
          </p:cNvPr>
          <p:cNvSpPr txBox="1"/>
          <p:nvPr/>
        </p:nvSpPr>
        <p:spPr>
          <a:xfrm>
            <a:off x="11049000" y="26853713"/>
            <a:ext cx="9016913" cy="637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2"/>
                </a:solidFill>
                <a:latin typeface="+mj-lt"/>
              </a:rPr>
              <a:t>Results</a:t>
            </a:r>
            <a:r>
              <a:rPr lang="en-US" sz="4400" b="1" dirty="0">
                <a:solidFill>
                  <a:schemeClr val="accent2"/>
                </a:solidFill>
                <a:latin typeface="+mj-lt"/>
              </a:rPr>
              <a:t> </a:t>
            </a:r>
          </a:p>
          <a:p>
            <a:r>
              <a:rPr lang="en-US" sz="4400" b="1" dirty="0">
                <a:solidFill>
                  <a:schemeClr val="tx2"/>
                </a:solidFill>
                <a:latin typeface="+mj-lt"/>
              </a:rPr>
              <a:t>Cost and Time Savings: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Implemented solutions are currently saving </a:t>
            </a:r>
            <a:r>
              <a:rPr lang="en-US" sz="3200" dirty="0" err="1"/>
              <a:t>Míocar</a:t>
            </a:r>
            <a:r>
              <a:rPr lang="en-US" sz="3200" dirty="0"/>
              <a:t> </a:t>
            </a:r>
            <a:r>
              <a:rPr lang="en-US" sz="3200" b="1" dirty="0"/>
              <a:t>~14 hours a month.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If the organization is scaled to 3200 users, cost of running organizational tasks are </a:t>
            </a:r>
            <a:r>
              <a:rPr lang="en-US" sz="3200" b="1" dirty="0"/>
              <a:t>cut by 172%.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Reduced the most time-consuming task to nearly zero </a:t>
            </a:r>
            <a:r>
              <a:rPr lang="en-US" sz="3200" dirty="0"/>
              <a:t>(manual booking data entry)</a:t>
            </a:r>
          </a:p>
          <a:p>
            <a:endParaRPr lang="en-US" sz="105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68AE615-49FA-9154-6ED8-114C9FEF26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793200" y="1673024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B2368178-9104-B9D7-0D07-2EBE073AFF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45600" y="1688264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DF61185-33D1-0F8F-218D-54BDCE53F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5420" y="4661679"/>
            <a:ext cx="12310695" cy="681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729BED-ED9D-60CC-2501-77E49B292B79}"/>
              </a:ext>
            </a:extLst>
          </p:cNvPr>
          <p:cNvCxnSpPr>
            <a:cxnSpLocks/>
          </p:cNvCxnSpPr>
          <p:nvPr/>
        </p:nvCxnSpPr>
        <p:spPr>
          <a:xfrm>
            <a:off x="10668000" y="26670000"/>
            <a:ext cx="1828800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7B5369D-A4C6-FB52-008E-A21B16F00A2C}"/>
              </a:ext>
            </a:extLst>
          </p:cNvPr>
          <p:cNvSpPr txBox="1"/>
          <p:nvPr/>
        </p:nvSpPr>
        <p:spPr>
          <a:xfrm>
            <a:off x="29897547" y="12803922"/>
            <a:ext cx="392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54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39AF16-81ED-B88E-F8C1-9A962FFCE7B8}"/>
              </a:ext>
            </a:extLst>
          </p:cNvPr>
          <p:cNvSpPr txBox="1"/>
          <p:nvPr/>
        </p:nvSpPr>
        <p:spPr>
          <a:xfrm>
            <a:off x="29343350" y="15865078"/>
            <a:ext cx="14547842" cy="13172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accent2"/>
                </a:solidFill>
                <a:latin typeface="+mj-lt"/>
              </a:rPr>
              <a:t>Work-In-Progress</a:t>
            </a:r>
            <a:endParaRPr lang="en-US" sz="6000" b="1" dirty="0">
              <a:solidFill>
                <a:schemeClr val="accent2"/>
              </a:solidFill>
              <a:latin typeface="+mj-lt"/>
            </a:endParaRPr>
          </a:p>
          <a:p>
            <a:r>
              <a:rPr lang="en-US" sz="4400" b="1" dirty="0">
                <a:solidFill>
                  <a:schemeClr val="tx2"/>
                </a:solidFill>
                <a:latin typeface="+mj-lt"/>
              </a:rPr>
              <a:t>Auto-Updating: </a:t>
            </a:r>
            <a:r>
              <a:rPr lang="en-US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Solutions developed will require </a:t>
            </a:r>
            <a:r>
              <a:rPr lang="en-US" sz="3200" b="1" dirty="0"/>
              <a:t>periodic maintenance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Production scripts will be hosted on a server and will be pinged dynamically to compare running versions for changes. Updates will be pulled and merged.</a:t>
            </a:r>
          </a:p>
          <a:p>
            <a:r>
              <a:rPr lang="en-US" sz="4400" b="1" dirty="0">
                <a:solidFill>
                  <a:schemeClr val="tx2"/>
                </a:solidFill>
                <a:latin typeface="+mj-lt"/>
              </a:rPr>
              <a:t>Cybersecurity: </a:t>
            </a:r>
            <a:r>
              <a:rPr lang="en-US" sz="4400" dirty="0"/>
              <a:t> 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protect sensitive API endpoints, they are hidden behind a </a:t>
            </a:r>
            <a:r>
              <a:rPr lang="en-US" sz="3200" b="1" dirty="0"/>
              <a:t>secure server </a:t>
            </a:r>
            <a:r>
              <a:rPr lang="en-US" sz="3200" dirty="0"/>
              <a:t>and only requested by the script when needed. Unauthorized users cannot run any script that requires backend access.</a:t>
            </a:r>
            <a:endParaRPr lang="en-US" sz="1050" b="1" dirty="0">
              <a:solidFill>
                <a:schemeClr val="tx2"/>
              </a:solidFill>
              <a:latin typeface="+mj-lt"/>
            </a:endParaRPr>
          </a:p>
          <a:p>
            <a:r>
              <a:rPr lang="en-US" sz="4400" b="1" dirty="0">
                <a:solidFill>
                  <a:schemeClr val="tx2"/>
                </a:solidFill>
                <a:latin typeface="+mj-lt"/>
              </a:rPr>
              <a:t>Logging and Dashboards:</a:t>
            </a:r>
            <a:r>
              <a:rPr lang="en-US" sz="3200" b="1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3200" dirty="0"/>
              <a:t> 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Tampermonkey</a:t>
            </a:r>
            <a:r>
              <a:rPr lang="en-US" sz="3200" dirty="0"/>
              <a:t> scripts send logs and events to a server for activity and usage tracking, which can be visualized through a </a:t>
            </a:r>
            <a:r>
              <a:rPr lang="en-US" sz="3200" b="1" dirty="0"/>
              <a:t>dashboard/analytics application</a:t>
            </a:r>
            <a:r>
              <a:rPr lang="en-US" sz="3200" dirty="0"/>
              <a:t>.</a:t>
            </a:r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MongoDB </a:t>
            </a:r>
            <a:r>
              <a:rPr lang="en-US" sz="3200" dirty="0"/>
              <a:t>will be used to store the logs and events in JSON Format.</a:t>
            </a:r>
          </a:p>
          <a:p>
            <a:r>
              <a:rPr lang="en-US" sz="4400" b="1" dirty="0">
                <a:solidFill>
                  <a:schemeClr val="tx2"/>
                </a:solidFill>
                <a:latin typeface="+mj-lt"/>
              </a:rPr>
              <a:t>Chatbot &amp; AI Features:</a:t>
            </a:r>
            <a:endParaRPr lang="en-US" sz="4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Report text summarization can be employed to give </a:t>
            </a:r>
            <a:r>
              <a:rPr lang="en-US" sz="3200" b="1" dirty="0"/>
              <a:t>interactive reports</a:t>
            </a:r>
            <a:r>
              <a:rPr lang="en-US" sz="3200" dirty="0"/>
              <a:t> on business operations. Admins can gain deeper operational insight on demand.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Using the collective data available on request, admin will be able to streamline operations and gather insights by </a:t>
            </a:r>
            <a:r>
              <a:rPr lang="en-US" sz="3200" b="1" dirty="0"/>
              <a:t>asking questions to a chatbot</a:t>
            </a:r>
            <a:r>
              <a:rPr lang="en-US" sz="3200" dirty="0"/>
              <a:t>.</a:t>
            </a:r>
          </a:p>
          <a:p>
            <a:pPr marL="1686154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Ex: “Did John sign up with us recently? What’s his license status?”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934F8D-775E-7741-E331-F162F7D04735}"/>
              </a:ext>
            </a:extLst>
          </p:cNvPr>
          <p:cNvCxnSpPr>
            <a:cxnSpLocks/>
          </p:cNvCxnSpPr>
          <p:nvPr/>
        </p:nvCxnSpPr>
        <p:spPr>
          <a:xfrm>
            <a:off x="28956000" y="11658600"/>
            <a:ext cx="1493520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F7294F62-7FE8-6CEA-5B2A-6529425B8014}"/>
              </a:ext>
            </a:extLst>
          </p:cNvPr>
          <p:cNvGrpSpPr/>
          <p:nvPr/>
        </p:nvGrpSpPr>
        <p:grpSpPr>
          <a:xfrm>
            <a:off x="29443046" y="26931524"/>
            <a:ext cx="13990954" cy="5301076"/>
            <a:chOff x="29451236" y="15672957"/>
            <a:chExt cx="14063089" cy="3958052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023A4335-5BA1-C802-9B69-F71EC9EE8F12}"/>
                </a:ext>
              </a:extLst>
            </p:cNvPr>
            <p:cNvSpPr/>
            <p:nvPr/>
          </p:nvSpPr>
          <p:spPr>
            <a:xfrm>
              <a:off x="29451236" y="15707260"/>
              <a:ext cx="4873235" cy="3923749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4FF8506-1639-7868-A135-86A028C5DD36}"/>
                </a:ext>
              </a:extLst>
            </p:cNvPr>
            <p:cNvSpPr/>
            <p:nvPr/>
          </p:nvSpPr>
          <p:spPr>
            <a:xfrm>
              <a:off x="29650554" y="16996447"/>
              <a:ext cx="2237299" cy="86496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Fast API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13379EF-E4F5-453C-74BA-5BC34290B6F4}"/>
                </a:ext>
              </a:extLst>
            </p:cNvPr>
            <p:cNvSpPr/>
            <p:nvPr/>
          </p:nvSpPr>
          <p:spPr>
            <a:xfrm>
              <a:off x="32146548" y="16980672"/>
              <a:ext cx="1851579" cy="88074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err="1"/>
                <a:t>Ollama</a:t>
              </a:r>
              <a:endParaRPr lang="en-US" sz="3200" dirty="0"/>
            </a:p>
          </p:txBody>
        </p:sp>
        <p:sp>
          <p:nvSpPr>
            <p:cNvPr id="20" name="Can 19">
              <a:extLst>
                <a:ext uri="{FF2B5EF4-FFF2-40B4-BE49-F238E27FC236}">
                  <a16:creationId xmlns:a16="http://schemas.microsoft.com/office/drawing/2014/main" id="{C144C61B-592A-6BEF-C3A0-13409C252AF3}"/>
                </a:ext>
              </a:extLst>
            </p:cNvPr>
            <p:cNvSpPr/>
            <p:nvPr/>
          </p:nvSpPr>
          <p:spPr>
            <a:xfrm>
              <a:off x="29650554" y="18196429"/>
              <a:ext cx="4347572" cy="1125958"/>
            </a:xfrm>
            <a:prstGeom prst="can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MongoDB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A0D8B4C-6174-AEA8-41B8-AB9D55D8D670}"/>
                </a:ext>
              </a:extLst>
            </p:cNvPr>
            <p:cNvSpPr/>
            <p:nvPr/>
          </p:nvSpPr>
          <p:spPr>
            <a:xfrm>
              <a:off x="36809413" y="15672957"/>
              <a:ext cx="6704912" cy="63384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Chatbot &amp; AI Features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C71C439-12FF-97D4-C0F5-D3446F407A85}"/>
                </a:ext>
              </a:extLst>
            </p:cNvPr>
            <p:cNvSpPr txBox="1"/>
            <p:nvPr/>
          </p:nvSpPr>
          <p:spPr>
            <a:xfrm>
              <a:off x="29781704" y="15765622"/>
              <a:ext cx="423245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bg2"/>
                  </a:solidFill>
                </a:rPr>
                <a:t>Containerized Backend (EV Center Servers )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54476867-1C01-D8B4-843F-B2B02C65F56C}"/>
                </a:ext>
              </a:extLst>
            </p:cNvPr>
            <p:cNvSpPr/>
            <p:nvPr/>
          </p:nvSpPr>
          <p:spPr>
            <a:xfrm>
              <a:off x="36675357" y="16611600"/>
              <a:ext cx="6824368" cy="1981200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994D0A5-52A1-FF2D-EC43-B9528A8256A3}"/>
                </a:ext>
              </a:extLst>
            </p:cNvPr>
            <p:cNvSpPr/>
            <p:nvPr/>
          </p:nvSpPr>
          <p:spPr>
            <a:xfrm>
              <a:off x="40044456" y="17215861"/>
              <a:ext cx="2864646" cy="58924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err="1"/>
                <a:t>MaterialUI</a:t>
              </a:r>
              <a:endParaRPr lang="en-US" sz="32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818F30-DA22-0768-BBD2-C540964ED602}"/>
                </a:ext>
              </a:extLst>
            </p:cNvPr>
            <p:cNvSpPr/>
            <p:nvPr/>
          </p:nvSpPr>
          <p:spPr>
            <a:xfrm>
              <a:off x="37171612" y="17978214"/>
              <a:ext cx="2373346" cy="5383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React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93908FE-FC0D-23D2-AEFB-91BDB7D8FEB7}"/>
                </a:ext>
              </a:extLst>
            </p:cNvPr>
            <p:cNvSpPr/>
            <p:nvPr/>
          </p:nvSpPr>
          <p:spPr>
            <a:xfrm>
              <a:off x="37171611" y="17234974"/>
              <a:ext cx="2373346" cy="57013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 err="1"/>
                <a:t>Chart.JS</a:t>
              </a:r>
              <a:endParaRPr lang="en-US" sz="32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016E55E-BD9E-732A-B0E0-35F918ECCBF2}"/>
                </a:ext>
              </a:extLst>
            </p:cNvPr>
            <p:cNvSpPr/>
            <p:nvPr/>
          </p:nvSpPr>
          <p:spPr>
            <a:xfrm>
              <a:off x="40041213" y="17978214"/>
              <a:ext cx="2867889" cy="53838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Tailwind CSS</a:t>
              </a:r>
            </a:p>
          </p:txBody>
        </p:sp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01B68E47-FF40-0AFD-9997-B9F8EAE21137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flipV="1">
              <a:off x="34232210" y="15989879"/>
              <a:ext cx="2577203" cy="1777687"/>
            </a:xfrm>
            <a:prstGeom prst="bentConnector3">
              <a:avLst>
                <a:gd name="adj1" fmla="val 50000"/>
              </a:avLst>
            </a:prstGeom>
            <a:ln w="635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0C7ADA6-5A2B-FDE2-3D22-129CD64F70ED}"/>
                </a:ext>
              </a:extLst>
            </p:cNvPr>
            <p:cNvSpPr txBox="1"/>
            <p:nvPr/>
          </p:nvSpPr>
          <p:spPr>
            <a:xfrm>
              <a:off x="36675357" y="16621780"/>
              <a:ext cx="64702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Metrics</a:t>
              </a:r>
              <a:r>
                <a:rPr lang="en-US" sz="2800" dirty="0"/>
                <a:t> </a:t>
              </a:r>
              <a:r>
                <a:rPr lang="en-US" sz="3200" dirty="0"/>
                <a:t>Dashboard</a:t>
              </a:r>
              <a:endParaRPr lang="en-US" sz="2800" dirty="0"/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2DD9E220-D203-7256-D323-5B70F604D1E3}"/>
                </a:ext>
              </a:extLst>
            </p:cNvPr>
            <p:cNvSpPr/>
            <p:nvPr/>
          </p:nvSpPr>
          <p:spPr>
            <a:xfrm>
              <a:off x="36798938" y="18821400"/>
              <a:ext cx="6704912" cy="633843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/>
                  </a:solidFill>
                </a:rPr>
                <a:t>Auto-Updating &amp; Sensitive Data</a:t>
              </a:r>
            </a:p>
          </p:txBody>
        </p:sp>
        <p:cxnSp>
          <p:nvCxnSpPr>
            <p:cNvPr id="1048" name="Elbow Connector 1047">
              <a:extLst>
                <a:ext uri="{FF2B5EF4-FFF2-40B4-BE49-F238E27FC236}">
                  <a16:creationId xmlns:a16="http://schemas.microsoft.com/office/drawing/2014/main" id="{CEB2E5DA-8D65-824E-EB0B-B316EBB1B06C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 flipV="1">
              <a:off x="34229830" y="17602200"/>
              <a:ext cx="2445527" cy="165366"/>
            </a:xfrm>
            <a:prstGeom prst="bentConnector3">
              <a:avLst>
                <a:gd name="adj1" fmla="val 52543"/>
              </a:avLst>
            </a:prstGeom>
            <a:ln w="635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2" name="Elbow Connector 1051">
              <a:extLst>
                <a:ext uri="{FF2B5EF4-FFF2-40B4-BE49-F238E27FC236}">
                  <a16:creationId xmlns:a16="http://schemas.microsoft.com/office/drawing/2014/main" id="{DB12E90A-D7F4-4366-BE48-38BC980ED560}"/>
                </a:ext>
              </a:extLst>
            </p:cNvPr>
            <p:cNvCxnSpPr>
              <a:cxnSpLocks/>
              <a:endCxn id="1044" idx="1"/>
            </p:cNvCxnSpPr>
            <p:nvPr/>
          </p:nvCxnSpPr>
          <p:spPr>
            <a:xfrm>
              <a:off x="34197444" y="17777746"/>
              <a:ext cx="2601494" cy="1360576"/>
            </a:xfrm>
            <a:prstGeom prst="bentConnector3">
              <a:avLst>
                <a:gd name="adj1" fmla="val 50895"/>
              </a:avLst>
            </a:prstGeom>
            <a:ln w="635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B04E7C5-9057-702B-1112-1D2D92D30116}"/>
              </a:ext>
            </a:extLst>
          </p:cNvPr>
          <p:cNvSpPr txBox="1"/>
          <p:nvPr/>
        </p:nvSpPr>
        <p:spPr>
          <a:xfrm>
            <a:off x="29343349" y="11811000"/>
            <a:ext cx="14547843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dirty="0">
                <a:solidFill>
                  <a:schemeClr val="accent2"/>
                </a:solidFill>
                <a:latin typeface="+mj-lt"/>
              </a:rPr>
              <a:t>Conclusion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effectLst/>
              </a:rPr>
              <a:t>This project focused on </a:t>
            </a:r>
            <a:r>
              <a:rPr lang="en-US" sz="3200" b="1" dirty="0">
                <a:effectLst/>
              </a:rPr>
              <a:t>automating key operational processes </a:t>
            </a:r>
            <a:r>
              <a:rPr lang="en-US" sz="3200" dirty="0">
                <a:effectLst/>
              </a:rPr>
              <a:t>for a non-profit service, resulting in significant time savings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Non-Profits that are burdened with limited tools and technologies can lose focus on overarching goals, especially as operations scale.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This template can be used for any organization that operates on a web application-based service</a:t>
            </a:r>
          </a:p>
        </p:txBody>
      </p:sp>
      <p:pic>
        <p:nvPicPr>
          <p:cNvPr id="8" name="Picture 7" descr="Logo&#10;&#10;AI-generated content may be incorrect.">
            <a:extLst>
              <a:ext uri="{FF2B5EF4-FFF2-40B4-BE49-F238E27FC236}">
                <a16:creationId xmlns:a16="http://schemas.microsoft.com/office/drawing/2014/main" id="{9C7601A0-98B9-6E51-FFE5-D2BC09E2D04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2400" y="2362200"/>
            <a:ext cx="5075554" cy="124138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A7D8327A-2B69-1A23-7A66-816989C64073}"/>
              </a:ext>
            </a:extLst>
          </p:cNvPr>
          <p:cNvSpPr txBox="1"/>
          <p:nvPr/>
        </p:nvSpPr>
        <p:spPr>
          <a:xfrm>
            <a:off x="1769525" y="18810565"/>
            <a:ext cx="7031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Figure 1: Operation data from the official </a:t>
            </a:r>
            <a:r>
              <a:rPr lang="en-US" sz="1400" dirty="0" err="1"/>
              <a:t>Miocar</a:t>
            </a:r>
            <a:r>
              <a:rPr lang="en-US" sz="1400" dirty="0"/>
              <a:t> site: https://</a:t>
            </a:r>
            <a:r>
              <a:rPr lang="en-US" sz="1400" dirty="0" err="1"/>
              <a:t>miocar.org</a:t>
            </a:r>
            <a:r>
              <a:rPr lang="en-US" sz="1400" dirty="0"/>
              <a:t>/?</a:t>
            </a:r>
            <a:r>
              <a:rPr lang="en-US" sz="1400" dirty="0" err="1"/>
              <a:t>page_id</a:t>
            </a:r>
            <a:r>
              <a:rPr lang="en-US" sz="1400" dirty="0"/>
              <a:t>=15270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3FC219-EB15-B880-89F4-DB4F9FC8BDE6}"/>
              </a:ext>
            </a:extLst>
          </p:cNvPr>
          <p:cNvSpPr txBox="1"/>
          <p:nvPr/>
        </p:nvSpPr>
        <p:spPr>
          <a:xfrm>
            <a:off x="4796488" y="18391105"/>
            <a:ext cx="184731" cy="836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D55C1966-2EDF-44F7-355C-BE6E3A629E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387" y="13596110"/>
            <a:ext cx="17690987" cy="45550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32AB6D-6D0C-0AD3-21AB-59290B6FA3BC}"/>
              </a:ext>
            </a:extLst>
          </p:cNvPr>
          <p:cNvSpPr txBox="1"/>
          <p:nvPr/>
        </p:nvSpPr>
        <p:spPr>
          <a:xfrm>
            <a:off x="13373097" y="18178047"/>
            <a:ext cx="1318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Figure 3: Featured added to help admin view and sort members based on signup date for maintenance and usability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93435-438C-EBC2-8ECA-7B13C47A979C}"/>
              </a:ext>
            </a:extLst>
          </p:cNvPr>
          <p:cNvSpPr txBox="1"/>
          <p:nvPr/>
        </p:nvSpPr>
        <p:spPr>
          <a:xfrm>
            <a:off x="20567651" y="25950446"/>
            <a:ext cx="8235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Featured added to help admin create multiple recurring service bookings at once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4A146C-89C1-49FE-5AFA-2B07B70823C9}"/>
              </a:ext>
            </a:extLst>
          </p:cNvPr>
          <p:cNvSpPr txBox="1"/>
          <p:nvPr/>
        </p:nvSpPr>
        <p:spPr>
          <a:xfrm>
            <a:off x="1659084" y="31772423"/>
            <a:ext cx="6769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Figure 2: Percentage splits per month of time spent performing organizational tasks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 Davis EcoCAR">
      <a:dk1>
        <a:srgbClr val="0D4687"/>
      </a:dk1>
      <a:lt1>
        <a:sysClr val="window" lastClr="FFFFFF"/>
      </a:lt1>
      <a:dk2>
        <a:srgbClr val="1F497D"/>
      </a:dk2>
      <a:lt2>
        <a:srgbClr val="FFFFFF"/>
      </a:lt2>
      <a:accent1>
        <a:srgbClr val="4F81BD"/>
      </a:accent1>
      <a:accent2>
        <a:srgbClr val="FFBF00"/>
      </a:accent2>
      <a:accent3>
        <a:srgbClr val="8DB3E2"/>
      </a:accent3>
      <a:accent4>
        <a:srgbClr val="17365D"/>
      </a:accent4>
      <a:accent5>
        <a:srgbClr val="FFF7EE"/>
      </a:accent5>
      <a:accent6>
        <a:srgbClr val="6FCFEB"/>
      </a:accent6>
      <a:hlink>
        <a:srgbClr val="0000FF"/>
      </a:hlink>
      <a:folHlink>
        <a:srgbClr val="800080"/>
      </a:folHlink>
    </a:clrScheme>
    <a:fontScheme name="Custom 2">
      <a:majorFont>
        <a:latin typeface="Proxima Nova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2288</TotalTime>
  <Words>777</Words>
  <Application>Microsoft Macintosh PowerPoint</Application>
  <PresentationFormat>Custom</PresentationFormat>
  <Paragraphs>76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Proxima Nova Rg</vt:lpstr>
      <vt:lpstr>Aptos</vt:lpstr>
      <vt:lpstr>Proxima Nova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Competition Presentation Template Y3</dc:title>
  <cp:lastModifiedBy>Harjot Gill</cp:lastModifiedBy>
  <cp:revision>32</cp:revision>
  <dcterms:created xsi:type="dcterms:W3CDTF">2006-08-16T00:00:00Z</dcterms:created>
  <dcterms:modified xsi:type="dcterms:W3CDTF">2025-04-27T03:01:41Z</dcterms:modified>
  <dc:identifier>DAGiBFLGEZU</dc:identifier>
</cp:coreProperties>
</file>